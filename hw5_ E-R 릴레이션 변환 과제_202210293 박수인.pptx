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hw5_ ‘E-R</a:t>
            </a: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릴레이션 변환</a:t>
            </a:r>
            <a:r>
              <a:rPr lang="en-US" altLang="ko-KR"/>
              <a:t>’</a:t>
            </a:r>
            <a:r>
              <a:rPr lang="ko-KR" altLang="en-US"/>
              <a:t> 과제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202210293</a:t>
            </a:r>
            <a:r>
              <a:rPr lang="ko-KR" altLang="en-US"/>
              <a:t> 박수인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9049" y="-1587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Q1.</a:t>
            </a:r>
            <a:endParaRPr lang="en-US" altLang="ko-KR"/>
          </a:p>
        </p:txBody>
      </p:sp>
      <p:sp>
        <p:nvSpPr>
          <p:cNvPr id="4" name=""/>
          <p:cNvSpPr/>
          <p:nvPr/>
        </p:nvSpPr>
        <p:spPr>
          <a:xfrm>
            <a:off x="8163484" y="1417638"/>
            <a:ext cx="1658472" cy="6723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자동차 회사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2701738" y="1417638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자동차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2701738" y="5197287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부품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5462867" y="4989420"/>
            <a:ext cx="1770529" cy="544043"/>
          </a:xfrm>
          <a:prstGeom prst="flowChartTerminator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u="sng">
                <a:solidFill>
                  <a:schemeClr val="tx1"/>
                </a:solidFill>
              </a:rPr>
              <a:t>고유번호</a:t>
            </a:r>
            <a:endParaRPr lang="ko-KR" altLang="en-US" u="sng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10297645" y="1617803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"/>
          <p:cNvSpPr/>
          <p:nvPr/>
        </p:nvSpPr>
        <p:spPr>
          <a:xfrm>
            <a:off x="10297645" y="846138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고유번호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"/>
          <p:cNvSpPr/>
          <p:nvPr/>
        </p:nvSpPr>
        <p:spPr>
          <a:xfrm>
            <a:off x="5462867" y="561246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"/>
          <p:cNvSpPr/>
          <p:nvPr/>
        </p:nvSpPr>
        <p:spPr>
          <a:xfrm>
            <a:off x="609599" y="2746654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609599" y="1753814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고유번호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"/>
          <p:cNvSpPr/>
          <p:nvPr/>
        </p:nvSpPr>
        <p:spPr>
          <a:xfrm>
            <a:off x="5510492" y="1417638"/>
            <a:ext cx="1400735" cy="672352"/>
          </a:xfrm>
          <a:prstGeom prst="flowChartDecision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제작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"/>
          <p:cNvSpPr/>
          <p:nvPr/>
        </p:nvSpPr>
        <p:spPr>
          <a:xfrm>
            <a:off x="2830606" y="3251947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조립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"/>
          <p:cNvSpPr/>
          <p:nvPr/>
        </p:nvSpPr>
        <p:spPr>
          <a:xfrm>
            <a:off x="4762500" y="2969932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부품 사용일자</a:t>
            </a:r>
            <a:endPara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/>
          <p:nvPr/>
        </p:nvSpPr>
        <p:spPr>
          <a:xfrm>
            <a:off x="4762500" y="3652278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수량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7" name=""/>
          <p:cNvCxnSpPr>
            <a:stCxn id="13" idx="3"/>
            <a:endCxn id="4" idx="1"/>
          </p:cNvCxnSpPr>
          <p:nvPr/>
        </p:nvCxnSpPr>
        <p:spPr>
          <a:xfrm flipV="1">
            <a:off x="6911228" y="1753814"/>
            <a:ext cx="125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>
            <a:stCxn id="5" idx="3"/>
          </p:cNvCxnSpPr>
          <p:nvPr/>
        </p:nvCxnSpPr>
        <p:spPr>
          <a:xfrm flipV="1">
            <a:off x="4360210" y="1753814"/>
            <a:ext cx="1150283" cy="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9" name=""/>
          <p:cNvCxnSpPr>
            <a:endCxn id="8" idx="1"/>
          </p:cNvCxnSpPr>
          <p:nvPr/>
        </p:nvCxnSpPr>
        <p:spPr>
          <a:xfrm>
            <a:off x="9821956" y="1753814"/>
            <a:ext cx="475689" cy="1360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0" name=""/>
          <p:cNvCxnSpPr>
            <a:stCxn id="4" idx="3"/>
            <a:endCxn id="9" idx="2"/>
          </p:cNvCxnSpPr>
          <p:nvPr/>
        </p:nvCxnSpPr>
        <p:spPr>
          <a:xfrm flipV="1">
            <a:off x="9821956" y="1390181"/>
            <a:ext cx="1360953" cy="36363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1" name=""/>
          <p:cNvCxnSpPr>
            <a:stCxn id="14" idx="3"/>
            <a:endCxn id="15" idx="1"/>
          </p:cNvCxnSpPr>
          <p:nvPr/>
        </p:nvCxnSpPr>
        <p:spPr>
          <a:xfrm flipV="1">
            <a:off x="4231341" y="3241954"/>
            <a:ext cx="531159" cy="346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"/>
          <p:cNvCxnSpPr>
            <a:stCxn id="14" idx="3"/>
            <a:endCxn id="16" idx="1"/>
          </p:cNvCxnSpPr>
          <p:nvPr/>
        </p:nvCxnSpPr>
        <p:spPr>
          <a:xfrm>
            <a:off x="4231344" y="3588123"/>
            <a:ext cx="531156" cy="33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"/>
          <p:cNvCxnSpPr>
            <a:stCxn id="12" idx="3"/>
            <a:endCxn id="5" idx="1"/>
          </p:cNvCxnSpPr>
          <p:nvPr/>
        </p:nvCxnSpPr>
        <p:spPr>
          <a:xfrm flipV="1">
            <a:off x="2380128" y="1753814"/>
            <a:ext cx="321609" cy="27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>
            <a:stCxn id="11" idx="3"/>
            <a:endCxn id="5" idx="1"/>
          </p:cNvCxnSpPr>
          <p:nvPr/>
        </p:nvCxnSpPr>
        <p:spPr>
          <a:xfrm rot="5400000" flipH="1" flipV="1">
            <a:off x="1908502" y="2225440"/>
            <a:ext cx="1264861" cy="32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"/>
          <p:cNvCxnSpPr>
            <a:stCxn id="14" idx="0"/>
            <a:endCxn id="5" idx="2"/>
          </p:cNvCxnSpPr>
          <p:nvPr/>
        </p:nvCxnSpPr>
        <p:spPr>
          <a:xfrm rot="16200000">
            <a:off x="2949996" y="2670969"/>
            <a:ext cx="1161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"/>
          <p:cNvCxnSpPr>
            <a:stCxn id="14" idx="2"/>
            <a:endCxn id="6" idx="0"/>
          </p:cNvCxnSpPr>
          <p:nvPr/>
        </p:nvCxnSpPr>
        <p:spPr>
          <a:xfrm rot="16200000" flipH="1">
            <a:off x="2894480" y="4560793"/>
            <a:ext cx="1272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>
            <a:stCxn id="6" idx="3"/>
            <a:endCxn id="7" idx="1"/>
          </p:cNvCxnSpPr>
          <p:nvPr/>
        </p:nvCxnSpPr>
        <p:spPr>
          <a:xfrm flipV="1">
            <a:off x="4360210" y="5261442"/>
            <a:ext cx="1102657" cy="272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"/>
          <p:cNvCxnSpPr>
            <a:stCxn id="6" idx="3"/>
            <a:endCxn id="10" idx="1"/>
          </p:cNvCxnSpPr>
          <p:nvPr/>
        </p:nvCxnSpPr>
        <p:spPr>
          <a:xfrm>
            <a:off x="4360210" y="5533463"/>
            <a:ext cx="1102657" cy="351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"/>
          <p:cNvGrpSpPr/>
          <p:nvPr/>
        </p:nvGrpSpPr>
        <p:grpSpPr>
          <a:xfrm rot="0">
            <a:off x="10297644" y="2386245"/>
            <a:ext cx="1770530" cy="544043"/>
            <a:chOff x="9821956" y="3156978"/>
            <a:chExt cx="1770530" cy="544043"/>
          </a:xfrm>
        </p:grpSpPr>
        <p:sp>
          <p:nvSpPr>
            <p:cNvPr id="31" name=""/>
            <p:cNvSpPr/>
            <p:nvPr/>
          </p:nvSpPr>
          <p:spPr>
            <a:xfrm>
              <a:off x="9821956" y="3156978"/>
              <a:ext cx="1770529" cy="544043"/>
            </a:xfrm>
            <a:prstGeom prst="flowChartTerminator">
              <a:avLst/>
            </a:prstGeom>
            <a:solidFill>
              <a:srgbClr val="ffffff">
                <a:alpha val="100000"/>
              </a:srgbClr>
            </a:solidFill>
            <a:ln w="19050" cap="flat" cmpd="sng" algn="ctr">
              <a:solidFill>
                <a:srgbClr val="2e3e67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이름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9920568" y="3208945"/>
              <a:ext cx="1557618" cy="440110"/>
            </a:xfrm>
            <a:prstGeom prst="flowChartTerminator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ko-KR" altLang="en-US">
                  <a:solidFill>
                    <a:schemeClr val="tx1"/>
                  </a:solidFill>
                </a:rPr>
                <a:t>국가정보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"/>
          <p:cNvGrpSpPr/>
          <p:nvPr/>
        </p:nvGrpSpPr>
        <p:grpSpPr>
          <a:xfrm rot="0">
            <a:off x="5462866" y="6313956"/>
            <a:ext cx="1770530" cy="544043"/>
            <a:chOff x="9821956" y="3156978"/>
            <a:chExt cx="1770530" cy="544043"/>
          </a:xfrm>
        </p:grpSpPr>
        <p:sp>
          <p:nvSpPr>
            <p:cNvPr id="34" name=""/>
            <p:cNvSpPr/>
            <p:nvPr/>
          </p:nvSpPr>
          <p:spPr>
            <a:xfrm>
              <a:off x="9821956" y="3156978"/>
              <a:ext cx="1770529" cy="544043"/>
            </a:xfrm>
            <a:prstGeom prst="flowChartTerminator">
              <a:avLst/>
            </a:prstGeom>
            <a:solidFill>
              <a:srgbClr val="ffffff">
                <a:alpha val="100000"/>
              </a:srgbClr>
            </a:solidFill>
            <a:ln w="19050" cap="flat" cmpd="sng" algn="ctr">
              <a:solidFill>
                <a:srgbClr val="2e3e67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이름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920568" y="3208945"/>
              <a:ext cx="1557618" cy="440110"/>
            </a:xfrm>
            <a:prstGeom prst="flowChartTerminator">
              <a:avLst/>
            </a:prstGeom>
            <a:solidFill>
              <a:srgbClr val="ffffff">
                <a:alpha val="100000"/>
              </a:srgbClr>
            </a:solidFill>
            <a:ln w="19050" cap="flat" cmpd="sng" algn="ctr">
              <a:solidFill>
                <a:srgbClr val="2e3e67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제작연도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</p:grpSp>
      <p:cxnSp>
        <p:nvCxnSpPr>
          <p:cNvPr id="36" name=""/>
          <p:cNvCxnSpPr>
            <a:stCxn id="4" idx="3"/>
            <a:endCxn id="31" idx="1"/>
          </p:cNvCxnSpPr>
          <p:nvPr/>
        </p:nvCxnSpPr>
        <p:spPr>
          <a:xfrm rot="16200000" flipH="1">
            <a:off x="9607578" y="1968200"/>
            <a:ext cx="904452" cy="475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"/>
          <p:cNvCxnSpPr>
            <a:stCxn id="6" idx="3"/>
            <a:endCxn id="34" idx="1"/>
          </p:cNvCxnSpPr>
          <p:nvPr/>
        </p:nvCxnSpPr>
        <p:spPr>
          <a:xfrm>
            <a:off x="4360210" y="5533462"/>
            <a:ext cx="1102657" cy="10525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"/>
          <p:cNvSpPr txBox="1"/>
          <p:nvPr/>
        </p:nvSpPr>
        <p:spPr>
          <a:xfrm>
            <a:off x="7838515" y="1391023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39" name=""/>
          <p:cNvSpPr txBox="1"/>
          <p:nvPr/>
        </p:nvSpPr>
        <p:spPr>
          <a:xfrm>
            <a:off x="4360210" y="1394143"/>
            <a:ext cx="324969" cy="36607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530974" y="2089990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530974" y="4809584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0" y="0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Q6.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개체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자동차 회사</a:t>
            </a:r>
            <a:r>
              <a:rPr lang="en-US" altLang="ko-KR"/>
              <a:t>(</a:t>
            </a:r>
            <a:r>
              <a:rPr lang="ko-KR" altLang="en-US" u="sng"/>
              <a:t>고유번호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국가정보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자동차</a:t>
            </a:r>
            <a:r>
              <a:rPr lang="en-US" altLang="ko-KR"/>
              <a:t>(</a:t>
            </a:r>
            <a:r>
              <a:rPr lang="ko-KR" altLang="en-US" u="sng"/>
              <a:t>고유번호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부품</a:t>
            </a:r>
            <a:r>
              <a:rPr lang="en-US" altLang="ko-KR"/>
              <a:t>(</a:t>
            </a:r>
            <a:r>
              <a:rPr lang="ko-KR" altLang="en-US" u="sng"/>
              <a:t>고유번호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제작연도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관계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제작</a:t>
            </a:r>
            <a:r>
              <a:rPr lang="en-US" altLang="ko-KR"/>
              <a:t>(</a:t>
            </a:r>
            <a:r>
              <a:rPr lang="ko-KR" altLang="en-US" u="sng"/>
              <a:t>자동차 회사 고유번호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자동차 고유번호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조립</a:t>
            </a:r>
            <a:r>
              <a:rPr lang="en-US" altLang="ko-KR"/>
              <a:t>(</a:t>
            </a:r>
            <a:r>
              <a:rPr lang="ko-KR" altLang="en-US" u="sng"/>
              <a:t>자동차 고유번호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부품 고유번호</a:t>
            </a:r>
            <a:r>
              <a:rPr lang="en-US" altLang="ko-KR"/>
              <a:t>,</a:t>
            </a:r>
            <a:r>
              <a:rPr lang="ko-KR" altLang="en-US"/>
              <a:t> 부품 사용일자</a:t>
            </a:r>
            <a:r>
              <a:rPr lang="en-US" altLang="ko-KR"/>
              <a:t>,</a:t>
            </a:r>
            <a:r>
              <a:rPr lang="ko-KR" altLang="en-US"/>
              <a:t> 수량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9049" y="-1587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Q2.</a:t>
            </a:r>
            <a:endParaRPr lang="en-US" altLang="ko-KR"/>
          </a:p>
        </p:txBody>
      </p:sp>
      <p:sp>
        <p:nvSpPr>
          <p:cNvPr id="4" name=""/>
          <p:cNvSpPr/>
          <p:nvPr/>
        </p:nvSpPr>
        <p:spPr>
          <a:xfrm>
            <a:off x="8163484" y="1417638"/>
            <a:ext cx="1658472" cy="6723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비행기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2701738" y="1417638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좌석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2701738" y="5197287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항공사 회원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5462867" y="3465420"/>
            <a:ext cx="1770529" cy="544043"/>
          </a:xfrm>
          <a:prstGeom prst="flowChartTerminator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u="sng">
                <a:solidFill>
                  <a:schemeClr val="tx1"/>
                </a:solidFill>
              </a:rPr>
              <a:t>회원아이디</a:t>
            </a:r>
            <a:endParaRPr lang="ko-KR" altLang="en-US" u="sng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10297645" y="1617803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출발일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"/>
          <p:cNvSpPr/>
          <p:nvPr/>
        </p:nvSpPr>
        <p:spPr>
          <a:xfrm>
            <a:off x="10297645" y="846138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비행기번호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"/>
          <p:cNvSpPr/>
          <p:nvPr/>
        </p:nvSpPr>
        <p:spPr>
          <a:xfrm>
            <a:off x="5462867" y="408846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"/>
          <p:cNvSpPr/>
          <p:nvPr/>
        </p:nvSpPr>
        <p:spPr>
          <a:xfrm>
            <a:off x="609599" y="2746654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등급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609599" y="1753814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좌석번호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"/>
          <p:cNvSpPr/>
          <p:nvPr/>
        </p:nvSpPr>
        <p:spPr>
          <a:xfrm>
            <a:off x="5510492" y="1417638"/>
            <a:ext cx="1400735" cy="672352"/>
          </a:xfrm>
          <a:prstGeom prst="flowChartDecision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설치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"/>
          <p:cNvSpPr/>
          <p:nvPr/>
        </p:nvSpPr>
        <p:spPr>
          <a:xfrm>
            <a:off x="2830606" y="3251947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구매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7" name=""/>
          <p:cNvCxnSpPr>
            <a:stCxn id="13" idx="3"/>
            <a:endCxn id="4" idx="1"/>
          </p:cNvCxnSpPr>
          <p:nvPr/>
        </p:nvCxnSpPr>
        <p:spPr>
          <a:xfrm flipV="1">
            <a:off x="6911228" y="1753814"/>
            <a:ext cx="125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>
            <a:stCxn id="5" idx="3"/>
          </p:cNvCxnSpPr>
          <p:nvPr/>
        </p:nvCxnSpPr>
        <p:spPr>
          <a:xfrm flipV="1">
            <a:off x="4360210" y="1753814"/>
            <a:ext cx="1150283" cy="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9" name=""/>
          <p:cNvCxnSpPr>
            <a:endCxn id="8" idx="1"/>
          </p:cNvCxnSpPr>
          <p:nvPr/>
        </p:nvCxnSpPr>
        <p:spPr>
          <a:xfrm>
            <a:off x="9821956" y="1753814"/>
            <a:ext cx="475689" cy="1360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0" name=""/>
          <p:cNvCxnSpPr>
            <a:stCxn id="4" idx="3"/>
            <a:endCxn id="9" idx="2"/>
          </p:cNvCxnSpPr>
          <p:nvPr/>
        </p:nvCxnSpPr>
        <p:spPr>
          <a:xfrm flipV="1">
            <a:off x="9821956" y="1390181"/>
            <a:ext cx="1360953" cy="36363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3" name=""/>
          <p:cNvCxnSpPr>
            <a:stCxn id="12" idx="3"/>
            <a:endCxn id="5" idx="1"/>
          </p:cNvCxnSpPr>
          <p:nvPr/>
        </p:nvCxnSpPr>
        <p:spPr>
          <a:xfrm flipV="1">
            <a:off x="2380128" y="1753814"/>
            <a:ext cx="321609" cy="27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>
            <a:stCxn id="11" idx="3"/>
            <a:endCxn id="5" idx="1"/>
          </p:cNvCxnSpPr>
          <p:nvPr/>
        </p:nvCxnSpPr>
        <p:spPr>
          <a:xfrm rot="5400000" flipH="1" flipV="1">
            <a:off x="1908502" y="2225440"/>
            <a:ext cx="1264861" cy="32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"/>
          <p:cNvCxnSpPr>
            <a:stCxn id="14" idx="0"/>
            <a:endCxn id="5" idx="2"/>
          </p:cNvCxnSpPr>
          <p:nvPr/>
        </p:nvCxnSpPr>
        <p:spPr>
          <a:xfrm rot="16200000">
            <a:off x="2949996" y="2670969"/>
            <a:ext cx="1161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"/>
          <p:cNvCxnSpPr>
            <a:stCxn id="14" idx="2"/>
            <a:endCxn id="6" idx="0"/>
          </p:cNvCxnSpPr>
          <p:nvPr/>
        </p:nvCxnSpPr>
        <p:spPr>
          <a:xfrm rot="16200000" flipH="1">
            <a:off x="2894480" y="4560793"/>
            <a:ext cx="1272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>
            <a:stCxn id="6" idx="3"/>
            <a:endCxn id="7" idx="1"/>
          </p:cNvCxnSpPr>
          <p:nvPr/>
        </p:nvCxnSpPr>
        <p:spPr>
          <a:xfrm rot="5400000" flipH="1" flipV="1">
            <a:off x="4013527" y="4084124"/>
            <a:ext cx="1796021" cy="1102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"/>
          <p:cNvCxnSpPr>
            <a:stCxn id="6" idx="3"/>
            <a:endCxn id="10" idx="1"/>
          </p:cNvCxnSpPr>
          <p:nvPr/>
        </p:nvCxnSpPr>
        <p:spPr>
          <a:xfrm rot="5400000" flipH="1" flipV="1">
            <a:off x="4325050" y="4395646"/>
            <a:ext cx="1172976" cy="1102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"/>
          <p:cNvCxnSpPr>
            <a:stCxn id="4" idx="3"/>
            <a:endCxn id="42" idx="1"/>
          </p:cNvCxnSpPr>
          <p:nvPr/>
        </p:nvCxnSpPr>
        <p:spPr>
          <a:xfrm rot="16200000" flipH="1">
            <a:off x="9607578" y="1968200"/>
            <a:ext cx="904452" cy="475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"/>
          <p:cNvCxnSpPr>
            <a:stCxn id="6" idx="3"/>
            <a:endCxn id="43" idx="1"/>
          </p:cNvCxnSpPr>
          <p:nvPr/>
        </p:nvCxnSpPr>
        <p:spPr>
          <a:xfrm flipV="1">
            <a:off x="4360210" y="5061978"/>
            <a:ext cx="1102656" cy="471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"/>
          <p:cNvSpPr txBox="1"/>
          <p:nvPr/>
        </p:nvSpPr>
        <p:spPr>
          <a:xfrm>
            <a:off x="7838515" y="1391023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39" name=""/>
          <p:cNvSpPr txBox="1"/>
          <p:nvPr/>
        </p:nvSpPr>
        <p:spPr>
          <a:xfrm>
            <a:off x="4360210" y="1394143"/>
            <a:ext cx="324969" cy="36607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530974" y="2089990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530974" y="4809584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2" name=""/>
          <p:cNvSpPr/>
          <p:nvPr/>
        </p:nvSpPr>
        <p:spPr>
          <a:xfrm>
            <a:off x="10297645" y="238624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출발시각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" name=""/>
          <p:cNvSpPr/>
          <p:nvPr/>
        </p:nvSpPr>
        <p:spPr>
          <a:xfrm>
            <a:off x="5462866" y="4789956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4" name=""/>
          <p:cNvSpPr/>
          <p:nvPr/>
        </p:nvSpPr>
        <p:spPr>
          <a:xfrm>
            <a:off x="5462867" y="5533462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신용카드 정보</a:t>
            </a:r>
            <a:endPara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5" name=""/>
          <p:cNvCxnSpPr>
            <a:stCxn id="6" idx="3"/>
            <a:endCxn id="44" idx="1"/>
          </p:cNvCxnSpPr>
          <p:nvPr/>
        </p:nvCxnSpPr>
        <p:spPr>
          <a:xfrm>
            <a:off x="4360210" y="5533464"/>
            <a:ext cx="1102657" cy="272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"/>
          <p:cNvSpPr/>
          <p:nvPr/>
        </p:nvSpPr>
        <p:spPr>
          <a:xfrm>
            <a:off x="8051427" y="5197287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신용카드 번호</a:t>
            </a:r>
            <a:endParaRPr xmlns:mc="http://schemas.openxmlformats.org/markup-compatibility/2006" xmlns:hp="http://schemas.haansoft.com/office/presentation/8.0" kumimoji="0" lang="ko-KR" altLang="en-US" sz="17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7" name=""/>
          <p:cNvSpPr/>
          <p:nvPr/>
        </p:nvSpPr>
        <p:spPr>
          <a:xfrm>
            <a:off x="8051427" y="5869640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유효기간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8" name=""/>
          <p:cNvCxnSpPr>
            <a:stCxn id="44" idx="3"/>
            <a:endCxn id="47" idx="1"/>
          </p:cNvCxnSpPr>
          <p:nvPr/>
        </p:nvCxnSpPr>
        <p:spPr>
          <a:xfrm>
            <a:off x="7233396" y="5805484"/>
            <a:ext cx="818031" cy="336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"/>
          <p:cNvCxnSpPr>
            <a:stCxn id="44" idx="3"/>
            <a:endCxn id="46" idx="1"/>
          </p:cNvCxnSpPr>
          <p:nvPr/>
        </p:nvCxnSpPr>
        <p:spPr>
          <a:xfrm flipV="1">
            <a:off x="7233396" y="5469309"/>
            <a:ext cx="818031" cy="336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"/>
          <p:cNvCxnSpPr/>
          <p:nvPr/>
        </p:nvCxnSpPr>
        <p:spPr>
          <a:xfrm>
            <a:off x="6777389" y="1821819"/>
            <a:ext cx="1386094" cy="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0" y="0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Q7.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개체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 sz="2300"/>
              <a:t>비행기</a:t>
            </a:r>
            <a:r>
              <a:rPr lang="en-US" altLang="ko-KR" sz="2300"/>
              <a:t>(</a:t>
            </a:r>
            <a:r>
              <a:rPr lang="ko-KR" altLang="en-US" sz="2300" u="sng"/>
              <a:t>비행기번호</a:t>
            </a:r>
            <a:r>
              <a:rPr lang="en-US" altLang="ko-KR" sz="2300"/>
              <a:t>,</a:t>
            </a:r>
            <a:r>
              <a:rPr lang="ko-KR" altLang="en-US" sz="2300"/>
              <a:t> 출발일</a:t>
            </a:r>
            <a:r>
              <a:rPr lang="en-US" altLang="ko-KR" sz="2300"/>
              <a:t>,</a:t>
            </a:r>
            <a:r>
              <a:rPr lang="ko-KR" altLang="en-US" sz="2300"/>
              <a:t> 출발시각</a:t>
            </a:r>
            <a:r>
              <a:rPr lang="en-US" altLang="ko-KR" sz="2300"/>
              <a:t>)</a:t>
            </a:r>
            <a:endParaRPr lang="en-US" altLang="ko-KR" sz="2300"/>
          </a:p>
          <a:p>
            <a:pPr>
              <a:defRPr/>
            </a:pPr>
            <a:r>
              <a:rPr lang="ko-KR" altLang="en-US" sz="2300"/>
              <a:t>좌석</a:t>
            </a:r>
            <a:r>
              <a:rPr lang="en-US" altLang="ko-KR" sz="2300"/>
              <a:t>(</a:t>
            </a:r>
            <a:r>
              <a:rPr lang="ko-KR" altLang="en-US" sz="2300"/>
              <a:t>좌석</a:t>
            </a:r>
            <a:r>
              <a:rPr lang="ko-KR" altLang="en-US" sz="2300" u="sng"/>
              <a:t>번호</a:t>
            </a:r>
            <a:r>
              <a:rPr lang="en-US" altLang="ko-KR" sz="2300"/>
              <a:t>,</a:t>
            </a:r>
            <a:r>
              <a:rPr lang="ko-KR" altLang="en-US" sz="2300"/>
              <a:t> 등급</a:t>
            </a:r>
            <a:r>
              <a:rPr lang="en-US" altLang="ko-KR" sz="2300"/>
              <a:t>)</a:t>
            </a:r>
            <a:endParaRPr lang="en-US" altLang="ko-KR"/>
          </a:p>
          <a:p>
            <a:pPr>
              <a:defRPr/>
            </a:pPr>
            <a:r>
              <a:rPr lang="ko-KR" altLang="en-US" sz="2300"/>
              <a:t>항공사 회원</a:t>
            </a:r>
            <a:r>
              <a:rPr lang="en-US" altLang="ko-KR" sz="2300"/>
              <a:t>(</a:t>
            </a:r>
            <a:r>
              <a:rPr lang="ko-KR" altLang="en-US" sz="2300"/>
              <a:t>회원아이디</a:t>
            </a:r>
            <a:r>
              <a:rPr lang="en-US" altLang="ko-KR" sz="2300"/>
              <a:t>,</a:t>
            </a:r>
            <a:r>
              <a:rPr lang="ko-KR" altLang="en-US" sz="2300"/>
              <a:t> 이름</a:t>
            </a:r>
            <a:r>
              <a:rPr lang="en-US" altLang="ko-KR" sz="2300"/>
              <a:t>,</a:t>
            </a:r>
            <a:r>
              <a:rPr lang="ko-KR" altLang="en-US" sz="2300"/>
              <a:t> 비밀번호</a:t>
            </a:r>
            <a:r>
              <a:rPr lang="en-US" altLang="ko-KR" sz="2300"/>
              <a:t>,</a:t>
            </a:r>
            <a:r>
              <a:rPr lang="ko-KR" altLang="en-US" sz="2300"/>
              <a:t> 신용카드 정보</a:t>
            </a:r>
            <a:r>
              <a:rPr lang="en-US" altLang="ko-KR" sz="2300"/>
              <a:t>(</a:t>
            </a:r>
            <a:r>
              <a:rPr lang="ko-KR" altLang="en-US" sz="2300" u="sng"/>
              <a:t>신용카드 번호</a:t>
            </a:r>
            <a:r>
              <a:rPr lang="en-US" altLang="ko-KR" sz="2300"/>
              <a:t>,</a:t>
            </a:r>
            <a:r>
              <a:rPr lang="ko-KR" altLang="en-US" sz="2300"/>
              <a:t> 유효기간</a:t>
            </a:r>
            <a:r>
              <a:rPr lang="en-US" altLang="ko-KR" sz="2300"/>
              <a:t>))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관계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 sz="2300"/>
              <a:t>설치</a:t>
            </a:r>
            <a:r>
              <a:rPr lang="en-US" altLang="ko-KR" sz="2300"/>
              <a:t>(</a:t>
            </a:r>
            <a:r>
              <a:rPr lang="ko-KR" altLang="en-US" sz="2300" u="sng"/>
              <a:t>비행기번호</a:t>
            </a:r>
            <a:r>
              <a:rPr lang="en-US" altLang="ko-KR" sz="2300"/>
              <a:t>,</a:t>
            </a:r>
            <a:r>
              <a:rPr lang="ko-KR" altLang="en-US" sz="2300"/>
              <a:t> </a:t>
            </a:r>
            <a:r>
              <a:rPr lang="ko-KR" altLang="en-US" sz="2300" u="sng"/>
              <a:t>좌석번호</a:t>
            </a:r>
            <a:r>
              <a:rPr lang="en-US" altLang="ko-KR" sz="2300"/>
              <a:t>)</a:t>
            </a:r>
            <a:endParaRPr lang="en-US" altLang="ko-KR" sz="2300"/>
          </a:p>
          <a:p>
            <a:pPr>
              <a:defRPr/>
            </a:pPr>
            <a:r>
              <a:rPr lang="ko-KR" altLang="en-US" sz="2300"/>
              <a:t>구매</a:t>
            </a:r>
            <a:r>
              <a:rPr lang="en-US" altLang="ko-KR" sz="2300"/>
              <a:t>(</a:t>
            </a:r>
            <a:r>
              <a:rPr lang="ko-KR" altLang="en-US" sz="2300" u="sng"/>
              <a:t>좌석번호</a:t>
            </a:r>
            <a:r>
              <a:rPr lang="en-US" altLang="ko-KR" sz="2300"/>
              <a:t>,</a:t>
            </a:r>
            <a:r>
              <a:rPr lang="ko-KR" altLang="en-US" sz="2300"/>
              <a:t> </a:t>
            </a:r>
            <a:r>
              <a:rPr lang="ko-KR" altLang="en-US" sz="2300" u="sng"/>
              <a:t>회원아이디</a:t>
            </a:r>
            <a:r>
              <a:rPr lang="en-US" altLang="ko-KR" sz="2300"/>
              <a:t>)</a:t>
            </a:r>
            <a:endParaRPr lang="en-US" altLang="ko-KR" sz="2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9049" y="-1587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Q3.</a:t>
            </a:r>
            <a:endParaRPr lang="en-US" altLang="ko-KR"/>
          </a:p>
        </p:txBody>
      </p:sp>
      <p:sp>
        <p:nvSpPr>
          <p:cNvPr id="4" name=""/>
          <p:cNvSpPr/>
          <p:nvPr/>
        </p:nvSpPr>
        <p:spPr>
          <a:xfrm>
            <a:off x="8163484" y="1417638"/>
            <a:ext cx="1658472" cy="6723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임원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2701738" y="1417638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기획사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2701738" y="5197287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매니저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195542" y="4551270"/>
            <a:ext cx="1770529" cy="544043"/>
          </a:xfrm>
          <a:prstGeom prst="flowChartTerminator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u="sng">
                <a:solidFill>
                  <a:schemeClr val="tx1"/>
                </a:solidFill>
              </a:rPr>
              <a:t>고유번호</a:t>
            </a:r>
            <a:endParaRPr lang="ko-KR" altLang="en-US" u="sng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10297644" y="1435987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"/>
          <p:cNvSpPr/>
          <p:nvPr/>
        </p:nvSpPr>
        <p:spPr>
          <a:xfrm>
            <a:off x="10297645" y="846138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임원번호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"/>
          <p:cNvSpPr/>
          <p:nvPr/>
        </p:nvSpPr>
        <p:spPr>
          <a:xfrm>
            <a:off x="195542" y="517431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"/>
          <p:cNvSpPr/>
          <p:nvPr/>
        </p:nvSpPr>
        <p:spPr>
          <a:xfrm>
            <a:off x="609599" y="1660804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대표자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609599" y="1077539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회사명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"/>
          <p:cNvSpPr/>
          <p:nvPr/>
        </p:nvSpPr>
        <p:spPr>
          <a:xfrm>
            <a:off x="5510492" y="1417638"/>
            <a:ext cx="1400735" cy="672352"/>
          </a:xfrm>
          <a:prstGeom prst="flowChartDecision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고용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"/>
          <p:cNvSpPr/>
          <p:nvPr/>
        </p:nvSpPr>
        <p:spPr>
          <a:xfrm>
            <a:off x="2830606" y="3251947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매니저 계약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7" name=""/>
          <p:cNvCxnSpPr>
            <a:stCxn id="13" idx="3"/>
            <a:endCxn id="4" idx="1"/>
          </p:cNvCxnSpPr>
          <p:nvPr/>
        </p:nvCxnSpPr>
        <p:spPr>
          <a:xfrm flipV="1">
            <a:off x="6911228" y="1753814"/>
            <a:ext cx="125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>
            <a:stCxn id="5" idx="3"/>
          </p:cNvCxnSpPr>
          <p:nvPr/>
        </p:nvCxnSpPr>
        <p:spPr>
          <a:xfrm flipV="1">
            <a:off x="4360210" y="1753814"/>
            <a:ext cx="1150283" cy="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9" name=""/>
          <p:cNvCxnSpPr>
            <a:endCxn id="8" idx="1"/>
          </p:cNvCxnSpPr>
          <p:nvPr/>
        </p:nvCxnSpPr>
        <p:spPr>
          <a:xfrm flipV="1">
            <a:off x="9821956" y="1708009"/>
            <a:ext cx="475688" cy="4580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0" name=""/>
          <p:cNvCxnSpPr>
            <a:stCxn id="4" idx="3"/>
            <a:endCxn id="9" idx="1"/>
          </p:cNvCxnSpPr>
          <p:nvPr/>
        </p:nvCxnSpPr>
        <p:spPr>
          <a:xfrm rot="5400000" flipH="1" flipV="1">
            <a:off x="9741969" y="1198138"/>
            <a:ext cx="635654" cy="475698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3" name=""/>
          <p:cNvCxnSpPr>
            <a:stCxn id="12" idx="3"/>
            <a:endCxn id="5" idx="1"/>
          </p:cNvCxnSpPr>
          <p:nvPr/>
        </p:nvCxnSpPr>
        <p:spPr>
          <a:xfrm rot="16200000" flipH="1">
            <a:off x="2338806" y="1390883"/>
            <a:ext cx="404253" cy="32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>
            <a:stCxn id="11" idx="3"/>
            <a:endCxn id="5" idx="1"/>
          </p:cNvCxnSpPr>
          <p:nvPr/>
        </p:nvCxnSpPr>
        <p:spPr>
          <a:xfrm flipV="1">
            <a:off x="2380128" y="1753814"/>
            <a:ext cx="321609" cy="179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"/>
          <p:cNvCxnSpPr>
            <a:stCxn id="14" idx="0"/>
            <a:endCxn id="5" idx="2"/>
          </p:cNvCxnSpPr>
          <p:nvPr/>
        </p:nvCxnSpPr>
        <p:spPr>
          <a:xfrm rot="16200000">
            <a:off x="2949996" y="2670969"/>
            <a:ext cx="1161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"/>
          <p:cNvCxnSpPr>
            <a:stCxn id="14" idx="2"/>
            <a:endCxn id="6" idx="0"/>
          </p:cNvCxnSpPr>
          <p:nvPr/>
        </p:nvCxnSpPr>
        <p:spPr>
          <a:xfrm rot="16200000" flipH="1">
            <a:off x="2894480" y="4560793"/>
            <a:ext cx="1272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>
            <a:stCxn id="6" idx="1"/>
            <a:endCxn id="7" idx="3"/>
          </p:cNvCxnSpPr>
          <p:nvPr/>
        </p:nvCxnSpPr>
        <p:spPr>
          <a:xfrm rot="10800000">
            <a:off x="1966072" y="4823292"/>
            <a:ext cx="735666" cy="710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"/>
          <p:cNvCxnSpPr>
            <a:stCxn id="6" idx="1"/>
            <a:endCxn id="10" idx="3"/>
          </p:cNvCxnSpPr>
          <p:nvPr/>
        </p:nvCxnSpPr>
        <p:spPr>
          <a:xfrm rot="10800000">
            <a:off x="1966071" y="5446337"/>
            <a:ext cx="735666" cy="87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"/>
          <p:cNvGrpSpPr/>
          <p:nvPr/>
        </p:nvGrpSpPr>
        <p:grpSpPr>
          <a:xfrm rot="0">
            <a:off x="195541" y="5875806"/>
            <a:ext cx="1770530" cy="544043"/>
            <a:chOff x="9821956" y="3156978"/>
            <a:chExt cx="1770530" cy="544043"/>
          </a:xfrm>
        </p:grpSpPr>
        <p:sp>
          <p:nvSpPr>
            <p:cNvPr id="34" name=""/>
            <p:cNvSpPr/>
            <p:nvPr/>
          </p:nvSpPr>
          <p:spPr>
            <a:xfrm>
              <a:off x="9821956" y="3156978"/>
              <a:ext cx="1770529" cy="544043"/>
            </a:xfrm>
            <a:prstGeom prst="flowChartTerminator">
              <a:avLst/>
            </a:prstGeom>
            <a:solidFill>
              <a:srgbClr val="ffffff">
                <a:alpha val="100000"/>
              </a:srgbClr>
            </a:solidFill>
            <a:ln w="19050" cap="flat" cmpd="sng" algn="ctr">
              <a:solidFill>
                <a:srgbClr val="2e3e67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이름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920568" y="3208945"/>
              <a:ext cx="1557618" cy="440110"/>
            </a:xfrm>
            <a:prstGeom prst="flowChartTerminator">
              <a:avLst/>
            </a:prstGeom>
            <a:solidFill>
              <a:srgbClr val="ffffff">
                <a:alpha val="100000"/>
              </a:srgbClr>
            </a:solidFill>
            <a:ln w="19050" cap="flat" cmpd="sng" algn="ctr">
              <a:solidFill>
                <a:srgbClr val="2e3e67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제작연도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</p:grpSp>
      <p:cxnSp>
        <p:nvCxnSpPr>
          <p:cNvPr id="36" name=""/>
          <p:cNvCxnSpPr>
            <a:stCxn id="4" idx="3"/>
            <a:endCxn id="67" idx="1"/>
          </p:cNvCxnSpPr>
          <p:nvPr/>
        </p:nvCxnSpPr>
        <p:spPr>
          <a:xfrm rot="16200000" flipH="1">
            <a:off x="9497876" y="2077902"/>
            <a:ext cx="1123856" cy="475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"/>
          <p:cNvCxnSpPr>
            <a:stCxn id="6" idx="1"/>
            <a:endCxn id="34" idx="3"/>
          </p:cNvCxnSpPr>
          <p:nvPr/>
        </p:nvCxnSpPr>
        <p:spPr>
          <a:xfrm rot="10800000" flipV="1">
            <a:off x="1966071" y="5533464"/>
            <a:ext cx="735666" cy="61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"/>
          <p:cNvSpPr txBox="1"/>
          <p:nvPr/>
        </p:nvSpPr>
        <p:spPr>
          <a:xfrm>
            <a:off x="7838515" y="1391023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m</a:t>
            </a:r>
            <a:endParaRPr lang="en-US" altLang="ko-KR"/>
          </a:p>
        </p:txBody>
      </p:sp>
      <p:sp>
        <p:nvSpPr>
          <p:cNvPr id="39" name=""/>
          <p:cNvSpPr txBox="1"/>
          <p:nvPr/>
        </p:nvSpPr>
        <p:spPr>
          <a:xfrm>
            <a:off x="4360210" y="1394143"/>
            <a:ext cx="324969" cy="36607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483349" y="2128091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530974" y="4809584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2" name=""/>
          <p:cNvSpPr/>
          <p:nvPr/>
        </p:nvSpPr>
        <p:spPr>
          <a:xfrm>
            <a:off x="7397563" y="5349687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연예인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" name=""/>
          <p:cNvSpPr/>
          <p:nvPr/>
        </p:nvSpPr>
        <p:spPr>
          <a:xfrm>
            <a:off x="10158693" y="3751170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연예인번호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4" name=""/>
          <p:cNvSpPr/>
          <p:nvPr/>
        </p:nvSpPr>
        <p:spPr>
          <a:xfrm>
            <a:off x="10158692" y="437421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5" name=""/>
          <p:cNvCxnSpPr>
            <a:stCxn id="42" idx="3"/>
            <a:endCxn id="43" idx="1"/>
          </p:cNvCxnSpPr>
          <p:nvPr/>
        </p:nvCxnSpPr>
        <p:spPr>
          <a:xfrm rot="5400000" flipH="1" flipV="1">
            <a:off x="8776028" y="4303199"/>
            <a:ext cx="1662671" cy="1102658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46" name=""/>
          <p:cNvCxnSpPr>
            <a:stCxn id="42" idx="3"/>
            <a:endCxn id="44" idx="1"/>
          </p:cNvCxnSpPr>
          <p:nvPr/>
        </p:nvCxnSpPr>
        <p:spPr>
          <a:xfrm flipV="1">
            <a:off x="9056036" y="4646237"/>
            <a:ext cx="1102657" cy="1039626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grpSp>
        <p:nvGrpSpPr>
          <p:cNvPr id="47" name=""/>
          <p:cNvGrpSpPr/>
          <p:nvPr/>
        </p:nvGrpSpPr>
        <p:grpSpPr>
          <a:xfrm rot="0">
            <a:off x="10158691" y="4980456"/>
            <a:ext cx="1770530" cy="544043"/>
            <a:chOff x="9821956" y="3156978"/>
            <a:chExt cx="1770530" cy="544043"/>
          </a:xfrm>
        </p:grpSpPr>
        <p:sp>
          <p:nvSpPr>
            <p:cNvPr id="48" name=""/>
            <p:cNvSpPr/>
            <p:nvPr/>
          </p:nvSpPr>
          <p:spPr>
            <a:xfrm>
              <a:off x="9821956" y="3156978"/>
              <a:ext cx="1770529" cy="544043"/>
            </a:xfrm>
            <a:prstGeom prst="flowChartTerminator">
              <a:avLst/>
            </a:prstGeom>
            <a:solidFill>
              <a:srgbClr val="ffffff">
                <a:alpha val="100000"/>
              </a:srgbClr>
            </a:solidFill>
            <a:ln w="19050" cap="flat" cmpd="sng" algn="ctr">
              <a:solidFill>
                <a:srgbClr val="2e3e67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이름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9920568" y="3208945"/>
              <a:ext cx="1557618" cy="440110"/>
            </a:xfrm>
            <a:prstGeom prst="flowChartTerminator">
              <a:avLst/>
            </a:prstGeom>
            <a:solidFill>
              <a:srgbClr val="ffffff">
                <a:alpha val="100000"/>
              </a:srgbClr>
            </a:solidFill>
            <a:ln w="19050" cap="flat" cmpd="sng" algn="ctr">
              <a:solidFill>
                <a:srgbClr val="2e3e67">
                  <a:alpha val="100000"/>
                </a:srgbClr>
              </a:solidFill>
              <a:prstDash val="solid"/>
            </a:ln>
          </p:spPr>
          <p:txBody>
            <a:bodyPr anchor="ctr"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활동분야</a:t>
              </a: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</p:grpSp>
      <p:cxnSp>
        <p:nvCxnSpPr>
          <p:cNvPr id="50" name=""/>
          <p:cNvCxnSpPr>
            <a:stCxn id="42" idx="3"/>
            <a:endCxn id="48" idx="1"/>
          </p:cNvCxnSpPr>
          <p:nvPr/>
        </p:nvCxnSpPr>
        <p:spPr>
          <a:xfrm flipV="1">
            <a:off x="9056035" y="5252478"/>
            <a:ext cx="1102656" cy="43338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51" name=""/>
          <p:cNvSpPr txBox="1"/>
          <p:nvPr/>
        </p:nvSpPr>
        <p:spPr>
          <a:xfrm>
            <a:off x="8163484" y="4938673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2" name=""/>
          <p:cNvSpPr/>
          <p:nvPr/>
        </p:nvSpPr>
        <p:spPr>
          <a:xfrm>
            <a:off x="4695265" y="3316101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연예인 계약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53" name=""/>
          <p:cNvCxnSpPr>
            <a:stCxn id="52" idx="0"/>
            <a:endCxn id="5" idx="2"/>
          </p:cNvCxnSpPr>
          <p:nvPr/>
        </p:nvCxnSpPr>
        <p:spPr>
          <a:xfrm rot="10800000">
            <a:off x="3530974" y="2089990"/>
            <a:ext cx="1864655" cy="1226113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54" name=""/>
          <p:cNvCxnSpPr>
            <a:stCxn id="52" idx="2"/>
            <a:endCxn id="42" idx="0"/>
          </p:cNvCxnSpPr>
          <p:nvPr/>
        </p:nvCxnSpPr>
        <p:spPr>
          <a:xfrm>
            <a:off x="5395636" y="3988452"/>
            <a:ext cx="2831163" cy="1361235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55" name=""/>
          <p:cNvSpPr txBox="1"/>
          <p:nvPr/>
        </p:nvSpPr>
        <p:spPr>
          <a:xfrm>
            <a:off x="3873874" y="2099516"/>
            <a:ext cx="324969" cy="36555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7" name=""/>
          <p:cNvSpPr/>
          <p:nvPr/>
        </p:nvSpPr>
        <p:spPr>
          <a:xfrm>
            <a:off x="8292352" y="2579594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883899" y="2566241"/>
            <a:ext cx="324969" cy="36555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646024" y="2566241"/>
            <a:ext cx="324969" cy="36555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61" name=""/>
          <p:cNvSpPr/>
          <p:nvPr/>
        </p:nvSpPr>
        <p:spPr>
          <a:xfrm>
            <a:off x="10158691" y="557212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키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2" name=""/>
          <p:cNvSpPr/>
          <p:nvPr/>
        </p:nvSpPr>
        <p:spPr>
          <a:xfrm>
            <a:off x="10158693" y="6176403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전화번호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3" name=""/>
          <p:cNvCxnSpPr>
            <a:stCxn id="42" idx="3"/>
            <a:endCxn id="61" idx="1"/>
          </p:cNvCxnSpPr>
          <p:nvPr/>
        </p:nvCxnSpPr>
        <p:spPr>
          <a:xfrm>
            <a:off x="9056035" y="5685863"/>
            <a:ext cx="1102656" cy="158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"/>
          <p:cNvCxnSpPr>
            <a:stCxn id="42" idx="3"/>
            <a:endCxn id="62" idx="1"/>
          </p:cNvCxnSpPr>
          <p:nvPr/>
        </p:nvCxnSpPr>
        <p:spPr>
          <a:xfrm>
            <a:off x="9056035" y="5685863"/>
            <a:ext cx="1102658" cy="762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"/>
          <p:cNvCxnSpPr>
            <a:stCxn id="4" idx="1"/>
            <a:endCxn id="57" idx="1"/>
          </p:cNvCxnSpPr>
          <p:nvPr/>
        </p:nvCxnSpPr>
        <p:spPr>
          <a:xfrm>
            <a:off x="8163484" y="1753814"/>
            <a:ext cx="128868" cy="1161956"/>
          </a:xfrm>
          <a:prstGeom prst="bentConnector3">
            <a:avLst>
              <a:gd name="adj1" fmla="val -2120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"/>
          <p:cNvSpPr/>
          <p:nvPr/>
        </p:nvSpPr>
        <p:spPr>
          <a:xfrm>
            <a:off x="10297644" y="2018130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직급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7" name=""/>
          <p:cNvSpPr/>
          <p:nvPr/>
        </p:nvSpPr>
        <p:spPr>
          <a:xfrm>
            <a:off x="10297644" y="2605648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급여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8" name=""/>
          <p:cNvCxnSpPr>
            <a:stCxn id="4" idx="3"/>
            <a:endCxn id="66" idx="1"/>
          </p:cNvCxnSpPr>
          <p:nvPr/>
        </p:nvCxnSpPr>
        <p:spPr>
          <a:xfrm rot="16200000" flipH="1">
            <a:off x="9791631" y="1784139"/>
            <a:ext cx="536338" cy="475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"/>
          <p:cNvCxnSpPr>
            <a:stCxn id="4" idx="3"/>
            <a:endCxn id="57" idx="3"/>
          </p:cNvCxnSpPr>
          <p:nvPr/>
        </p:nvCxnSpPr>
        <p:spPr>
          <a:xfrm flipH="1">
            <a:off x="9693088" y="1753814"/>
            <a:ext cx="128868" cy="1161956"/>
          </a:xfrm>
          <a:prstGeom prst="bentConnector3">
            <a:avLst>
              <a:gd name="adj1" fmla="val -105651"/>
            </a:avLst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70" name=""/>
          <p:cNvSpPr/>
          <p:nvPr/>
        </p:nvSpPr>
        <p:spPr>
          <a:xfrm>
            <a:off x="609599" y="2245098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대표 전화번호</a:t>
            </a:r>
            <a:endPara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1" name=""/>
          <p:cNvSpPr/>
          <p:nvPr/>
        </p:nvSpPr>
        <p:spPr>
          <a:xfrm>
            <a:off x="609598" y="2818281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위치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72" name=""/>
          <p:cNvCxnSpPr>
            <a:stCxn id="70" idx="3"/>
            <a:endCxn id="5" idx="1"/>
          </p:cNvCxnSpPr>
          <p:nvPr/>
        </p:nvCxnSpPr>
        <p:spPr>
          <a:xfrm rot="5400000" flipH="1" flipV="1">
            <a:off x="2159280" y="1974662"/>
            <a:ext cx="763305" cy="32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"/>
          <p:cNvCxnSpPr>
            <a:stCxn id="71" idx="3"/>
            <a:endCxn id="5" idx="1"/>
          </p:cNvCxnSpPr>
          <p:nvPr/>
        </p:nvCxnSpPr>
        <p:spPr>
          <a:xfrm rot="5400000" flipH="1" flipV="1">
            <a:off x="1872687" y="2261255"/>
            <a:ext cx="1336491" cy="32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"/>
          <p:cNvSpPr/>
          <p:nvPr/>
        </p:nvSpPr>
        <p:spPr>
          <a:xfrm>
            <a:off x="5139018" y="5356550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75" name=""/>
          <p:cNvCxnSpPr>
            <a:stCxn id="6" idx="3"/>
            <a:endCxn id="74" idx="1"/>
          </p:cNvCxnSpPr>
          <p:nvPr/>
        </p:nvCxnSpPr>
        <p:spPr>
          <a:xfrm>
            <a:off x="4360210" y="5533463"/>
            <a:ext cx="778808" cy="159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"/>
          <p:cNvCxnSpPr>
            <a:stCxn id="74" idx="3"/>
            <a:endCxn id="42" idx="1"/>
          </p:cNvCxnSpPr>
          <p:nvPr/>
        </p:nvCxnSpPr>
        <p:spPr>
          <a:xfrm flipV="1">
            <a:off x="6539754" y="5685863"/>
            <a:ext cx="857809" cy="6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"/>
          <p:cNvSpPr txBox="1"/>
          <p:nvPr/>
        </p:nvSpPr>
        <p:spPr>
          <a:xfrm>
            <a:off x="4359649" y="5238209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077634" y="5338723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0" y="0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Q8.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개체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기획사</a:t>
            </a:r>
            <a:r>
              <a:rPr lang="en-US" altLang="ko-KR"/>
              <a:t>(</a:t>
            </a:r>
            <a:r>
              <a:rPr lang="ko-KR" altLang="en-US" u="sng"/>
              <a:t>회사명</a:t>
            </a:r>
            <a:r>
              <a:rPr lang="en-US" altLang="ko-KR"/>
              <a:t>,</a:t>
            </a:r>
            <a:r>
              <a:rPr lang="ko-KR" altLang="en-US"/>
              <a:t> 대표자</a:t>
            </a:r>
            <a:r>
              <a:rPr lang="en-US" altLang="ko-KR"/>
              <a:t>,</a:t>
            </a:r>
            <a:r>
              <a:rPr lang="ko-KR" altLang="en-US"/>
              <a:t> 대표 전화번호</a:t>
            </a:r>
            <a:r>
              <a:rPr lang="en-US" altLang="ko-KR"/>
              <a:t>,</a:t>
            </a:r>
            <a:r>
              <a:rPr lang="ko-KR" altLang="en-US"/>
              <a:t> 위치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임원</a:t>
            </a:r>
            <a:r>
              <a:rPr lang="en-US" altLang="ko-KR"/>
              <a:t>(</a:t>
            </a:r>
            <a:r>
              <a:rPr lang="ko-KR" altLang="en-US"/>
              <a:t>임원</a:t>
            </a:r>
            <a:r>
              <a:rPr lang="ko-KR" altLang="en-US" u="sng"/>
              <a:t>번호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직급</a:t>
            </a:r>
            <a:r>
              <a:rPr lang="en-US" altLang="ko-KR"/>
              <a:t>,</a:t>
            </a:r>
            <a:r>
              <a:rPr lang="ko-KR" altLang="en-US"/>
              <a:t> 급여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매니저</a:t>
            </a:r>
            <a:r>
              <a:rPr lang="en-US" altLang="ko-KR"/>
              <a:t>(</a:t>
            </a:r>
            <a:r>
              <a:rPr lang="ko-KR" altLang="en-US" u="sng"/>
              <a:t>매니저번호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전화번호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연예인</a:t>
            </a:r>
            <a:r>
              <a:rPr lang="en-US" altLang="ko-KR"/>
              <a:t>(</a:t>
            </a:r>
            <a:r>
              <a:rPr lang="ko-KR" altLang="en-US" u="sng"/>
              <a:t>연예인번호</a:t>
            </a:r>
            <a:r>
              <a:rPr lang="en-US" altLang="ko-KR"/>
              <a:t>,</a:t>
            </a:r>
            <a:r>
              <a:rPr lang="ko-KR" altLang="en-US"/>
              <a:t> 활동분야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키</a:t>
            </a:r>
            <a:r>
              <a:rPr lang="en-US" altLang="ko-KR"/>
              <a:t>,</a:t>
            </a:r>
            <a:r>
              <a:rPr lang="ko-KR" altLang="en-US"/>
              <a:t> 전화번호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관계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고용</a:t>
            </a:r>
            <a:r>
              <a:rPr lang="en-US" altLang="ko-KR"/>
              <a:t>(</a:t>
            </a:r>
            <a:r>
              <a:rPr lang="ko-KR" altLang="en-US" u="sng"/>
              <a:t>회사명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임원번호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매니저계약</a:t>
            </a:r>
            <a:r>
              <a:rPr lang="en-US" altLang="ko-KR"/>
              <a:t>(</a:t>
            </a:r>
            <a:r>
              <a:rPr lang="ko-KR" altLang="en-US" u="sng"/>
              <a:t>매니저번호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회사명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연예인계약</a:t>
            </a:r>
            <a:r>
              <a:rPr lang="en-US" altLang="ko-KR"/>
              <a:t>(</a:t>
            </a:r>
            <a:r>
              <a:rPr lang="ko-KR" altLang="en-US" u="sng"/>
              <a:t>연예인번호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회사명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관리</a:t>
            </a:r>
            <a:r>
              <a:rPr lang="en-US" altLang="ko-KR"/>
              <a:t>(</a:t>
            </a:r>
            <a:r>
              <a:rPr lang="ko-KR" altLang="en-US" u="sng"/>
              <a:t>매니저번호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연예인번호</a:t>
            </a:r>
            <a:r>
              <a:rPr lang="en-US" altLang="ko-KR"/>
              <a:t>,</a:t>
            </a:r>
            <a:r>
              <a:rPr lang="ko-KR" altLang="en-US"/>
              <a:t> 관리 날짜</a:t>
            </a:r>
            <a:r>
              <a:rPr lang="en-US" altLang="ko-KR"/>
              <a:t>,</a:t>
            </a:r>
            <a:r>
              <a:rPr lang="ko-KR" altLang="en-US"/>
              <a:t> 관리내역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9049" y="-1587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Q4.</a:t>
            </a:r>
            <a:endParaRPr lang="en-US" altLang="ko-KR"/>
          </a:p>
        </p:txBody>
      </p:sp>
      <p:sp>
        <p:nvSpPr>
          <p:cNvPr id="4" name=""/>
          <p:cNvSpPr/>
          <p:nvPr/>
        </p:nvSpPr>
        <p:spPr>
          <a:xfrm>
            <a:off x="8163484" y="3246437"/>
            <a:ext cx="1658472" cy="6723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미술가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2701738" y="3105206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미술품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2701738" y="5197287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미술품 그룹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5462867" y="4989420"/>
            <a:ext cx="1770529" cy="544043"/>
          </a:xfrm>
          <a:prstGeom prst="flowChartTerminator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설명정보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10297645" y="3446603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미술가 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"/>
          <p:cNvSpPr/>
          <p:nvPr/>
        </p:nvSpPr>
        <p:spPr>
          <a:xfrm>
            <a:off x="10297644" y="2837331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미술가번호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"/>
          <p:cNvSpPr/>
          <p:nvPr/>
        </p:nvSpPr>
        <p:spPr>
          <a:xfrm>
            <a:off x="5462867" y="561246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그룹 이름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"/>
          <p:cNvSpPr/>
          <p:nvPr/>
        </p:nvSpPr>
        <p:spPr>
          <a:xfrm>
            <a:off x="609599" y="4013127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미술품 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609599" y="3406094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미술품번호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"/>
          <p:cNvSpPr/>
          <p:nvPr/>
        </p:nvSpPr>
        <p:spPr>
          <a:xfrm>
            <a:off x="5510492" y="3246437"/>
            <a:ext cx="1400735" cy="672352"/>
          </a:xfrm>
          <a:prstGeom prst="flowChartDecision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제작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7" name=""/>
          <p:cNvCxnSpPr>
            <a:stCxn id="13" idx="3"/>
            <a:endCxn id="4" idx="1"/>
          </p:cNvCxnSpPr>
          <p:nvPr/>
        </p:nvCxnSpPr>
        <p:spPr>
          <a:xfrm>
            <a:off x="6911228" y="3582614"/>
            <a:ext cx="125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>
            <a:stCxn id="5" idx="3"/>
          </p:cNvCxnSpPr>
          <p:nvPr/>
        </p:nvCxnSpPr>
        <p:spPr>
          <a:xfrm>
            <a:off x="4360210" y="3441382"/>
            <a:ext cx="1150283" cy="14123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9" name=""/>
          <p:cNvCxnSpPr>
            <a:endCxn id="8" idx="1"/>
          </p:cNvCxnSpPr>
          <p:nvPr/>
        </p:nvCxnSpPr>
        <p:spPr>
          <a:xfrm>
            <a:off x="9821956" y="3582613"/>
            <a:ext cx="475689" cy="1360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0" name=""/>
          <p:cNvCxnSpPr>
            <a:stCxn id="4" idx="3"/>
            <a:endCxn id="9" idx="1"/>
          </p:cNvCxnSpPr>
          <p:nvPr/>
        </p:nvCxnSpPr>
        <p:spPr>
          <a:xfrm flipV="1">
            <a:off x="9821956" y="3109353"/>
            <a:ext cx="475688" cy="47326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3" name=""/>
          <p:cNvCxnSpPr>
            <a:stCxn id="12" idx="3"/>
            <a:endCxn id="5" idx="1"/>
          </p:cNvCxnSpPr>
          <p:nvPr/>
        </p:nvCxnSpPr>
        <p:spPr>
          <a:xfrm flipV="1">
            <a:off x="2380128" y="3441382"/>
            <a:ext cx="321609" cy="236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>
            <a:stCxn id="11" idx="3"/>
            <a:endCxn id="5" idx="1"/>
          </p:cNvCxnSpPr>
          <p:nvPr/>
        </p:nvCxnSpPr>
        <p:spPr>
          <a:xfrm rot="5400000" flipH="1" flipV="1">
            <a:off x="2119050" y="3702461"/>
            <a:ext cx="843766" cy="32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"/>
          <p:cNvCxnSpPr>
            <a:stCxn id="14" idx="0"/>
            <a:endCxn id="5" idx="2"/>
          </p:cNvCxnSpPr>
          <p:nvPr/>
        </p:nvCxnSpPr>
        <p:spPr>
          <a:xfrm rot="16200000">
            <a:off x="3351138" y="3957395"/>
            <a:ext cx="359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"/>
          <p:cNvCxnSpPr>
            <a:stCxn id="14" idx="2"/>
            <a:endCxn id="6" idx="0"/>
          </p:cNvCxnSpPr>
          <p:nvPr/>
        </p:nvCxnSpPr>
        <p:spPr>
          <a:xfrm rot="16200000" flipH="1">
            <a:off x="3337122" y="5003435"/>
            <a:ext cx="3877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>
            <a:stCxn id="6" idx="3"/>
            <a:endCxn id="7" idx="1"/>
          </p:cNvCxnSpPr>
          <p:nvPr/>
        </p:nvCxnSpPr>
        <p:spPr>
          <a:xfrm flipV="1">
            <a:off x="4360210" y="5261442"/>
            <a:ext cx="1102657" cy="272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"/>
          <p:cNvCxnSpPr>
            <a:stCxn id="6" idx="3"/>
            <a:endCxn id="10" idx="1"/>
          </p:cNvCxnSpPr>
          <p:nvPr/>
        </p:nvCxnSpPr>
        <p:spPr>
          <a:xfrm>
            <a:off x="4360210" y="5533463"/>
            <a:ext cx="1102657" cy="351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"/>
          <p:cNvSpPr txBox="1"/>
          <p:nvPr/>
        </p:nvSpPr>
        <p:spPr>
          <a:xfrm>
            <a:off x="7828990" y="3581772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39" name=""/>
          <p:cNvSpPr txBox="1"/>
          <p:nvPr/>
        </p:nvSpPr>
        <p:spPr>
          <a:xfrm>
            <a:off x="4360210" y="3465036"/>
            <a:ext cx="324969" cy="36607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530974" y="3777559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530974" y="4809584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2" name=""/>
          <p:cNvSpPr/>
          <p:nvPr/>
        </p:nvSpPr>
        <p:spPr>
          <a:xfrm>
            <a:off x="609598" y="461315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가격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3" name=""/>
          <p:cNvCxnSpPr>
            <a:stCxn id="42" idx="3"/>
            <a:endCxn id="5" idx="1"/>
          </p:cNvCxnSpPr>
          <p:nvPr/>
        </p:nvCxnSpPr>
        <p:spPr>
          <a:xfrm rot="5400000" flipH="1" flipV="1">
            <a:off x="1819034" y="4002476"/>
            <a:ext cx="1443798" cy="32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"/>
          <p:cNvSpPr/>
          <p:nvPr/>
        </p:nvSpPr>
        <p:spPr>
          <a:xfrm>
            <a:off x="8163484" y="846137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5" name=""/>
          <p:cNvSpPr/>
          <p:nvPr/>
        </p:nvSpPr>
        <p:spPr>
          <a:xfrm>
            <a:off x="10297644" y="907172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 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6" name=""/>
          <p:cNvSpPr/>
          <p:nvPr/>
        </p:nvSpPr>
        <p:spPr>
          <a:xfrm>
            <a:off x="10297645" y="274637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8" name=""/>
          <p:cNvCxnSpPr>
            <a:endCxn id="45" idx="1"/>
          </p:cNvCxnSpPr>
          <p:nvPr/>
        </p:nvCxnSpPr>
        <p:spPr>
          <a:xfrm flipV="1">
            <a:off x="9821956" y="1179194"/>
            <a:ext cx="475688" cy="3119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49" name=""/>
          <p:cNvCxnSpPr>
            <a:stCxn id="44" idx="3"/>
            <a:endCxn id="46" idx="1"/>
          </p:cNvCxnSpPr>
          <p:nvPr/>
        </p:nvCxnSpPr>
        <p:spPr>
          <a:xfrm rot="5400000" flipH="1" flipV="1">
            <a:off x="9741973" y="626642"/>
            <a:ext cx="635654" cy="475689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sp>
        <p:nvSpPr>
          <p:cNvPr id="50" name=""/>
          <p:cNvSpPr txBox="1"/>
          <p:nvPr/>
        </p:nvSpPr>
        <p:spPr>
          <a:xfrm>
            <a:off x="7838515" y="819522"/>
            <a:ext cx="324969" cy="359673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1" name=""/>
          <p:cNvSpPr/>
          <p:nvPr/>
        </p:nvSpPr>
        <p:spPr>
          <a:xfrm>
            <a:off x="10297644" y="1518490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52" name=""/>
          <p:cNvCxnSpPr>
            <a:stCxn id="44" idx="3"/>
            <a:endCxn id="51" idx="1"/>
          </p:cNvCxnSpPr>
          <p:nvPr/>
        </p:nvCxnSpPr>
        <p:spPr>
          <a:xfrm rot="16200000" flipH="1">
            <a:off x="9755705" y="1248573"/>
            <a:ext cx="608198" cy="475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"/>
          <p:cNvSpPr/>
          <p:nvPr/>
        </p:nvSpPr>
        <p:spPr>
          <a:xfrm>
            <a:off x="5510493" y="778863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"/>
          <p:cNvSpPr/>
          <p:nvPr/>
        </p:nvSpPr>
        <p:spPr>
          <a:xfrm>
            <a:off x="5510493" y="2062534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미술가관리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5" name=""/>
          <p:cNvSpPr/>
          <p:nvPr/>
        </p:nvSpPr>
        <p:spPr>
          <a:xfrm>
            <a:off x="2701738" y="1182314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갤러리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56" name=""/>
          <p:cNvCxnSpPr>
            <a:stCxn id="55" idx="3"/>
            <a:endCxn id="53" idx="1"/>
          </p:cNvCxnSpPr>
          <p:nvPr/>
        </p:nvCxnSpPr>
        <p:spPr>
          <a:xfrm flipV="1">
            <a:off x="4360210" y="1115040"/>
            <a:ext cx="1150283" cy="403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"/>
          <p:cNvCxnSpPr>
            <a:stCxn id="55" idx="3"/>
            <a:endCxn id="54" idx="1"/>
          </p:cNvCxnSpPr>
          <p:nvPr/>
        </p:nvCxnSpPr>
        <p:spPr>
          <a:xfrm>
            <a:off x="4360211" y="1518490"/>
            <a:ext cx="1150282" cy="880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"/>
          <p:cNvCxnSpPr>
            <a:stCxn id="53" idx="3"/>
            <a:endCxn id="44" idx="1"/>
          </p:cNvCxnSpPr>
          <p:nvPr/>
        </p:nvCxnSpPr>
        <p:spPr>
          <a:xfrm>
            <a:off x="6911229" y="1115040"/>
            <a:ext cx="1252255" cy="67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"/>
          <p:cNvCxnSpPr>
            <a:stCxn id="54" idx="3"/>
          </p:cNvCxnSpPr>
          <p:nvPr/>
        </p:nvCxnSpPr>
        <p:spPr>
          <a:xfrm>
            <a:off x="6911229" y="2398710"/>
            <a:ext cx="1242730" cy="1183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"/>
          <p:cNvSpPr txBox="1"/>
          <p:nvPr/>
        </p:nvSpPr>
        <p:spPr>
          <a:xfrm>
            <a:off x="7876615" y="3048372"/>
            <a:ext cx="324969" cy="359673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360211" y="1091544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360211" y="1624944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8292352" y="2062534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미술가 선호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5" name=""/>
          <p:cNvCxnSpPr>
            <a:stCxn id="44" idx="2"/>
            <a:endCxn id="64" idx="0"/>
          </p:cNvCxnSpPr>
          <p:nvPr/>
        </p:nvCxnSpPr>
        <p:spPr>
          <a:xfrm rot="16200000" flipH="1">
            <a:off x="8720698" y="1790512"/>
            <a:ext cx="544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"/>
          <p:cNvCxnSpPr>
            <a:stCxn id="64" idx="2"/>
            <a:endCxn id="4" idx="0"/>
          </p:cNvCxnSpPr>
          <p:nvPr/>
        </p:nvCxnSpPr>
        <p:spPr>
          <a:xfrm rot="16200000" flipH="1" flipV="1">
            <a:off x="8736946" y="2990661"/>
            <a:ext cx="51155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"/>
          <p:cNvSpPr/>
          <p:nvPr/>
        </p:nvSpPr>
        <p:spPr>
          <a:xfrm>
            <a:off x="6418730" y="3731063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미술품 그룹 선호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8" name=""/>
          <p:cNvCxnSpPr>
            <a:stCxn id="44" idx="2"/>
            <a:endCxn id="67" idx="0"/>
          </p:cNvCxnSpPr>
          <p:nvPr/>
        </p:nvCxnSpPr>
        <p:spPr>
          <a:xfrm rot="5400000">
            <a:off x="6949623" y="1687965"/>
            <a:ext cx="2212572" cy="18736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"/>
          <p:cNvCxnSpPr>
            <a:stCxn id="67" idx="2"/>
            <a:endCxn id="6" idx="3"/>
          </p:cNvCxnSpPr>
          <p:nvPr/>
        </p:nvCxnSpPr>
        <p:spPr>
          <a:xfrm rot="10800000" flipV="1">
            <a:off x="4360210" y="4403416"/>
            <a:ext cx="2758887" cy="1130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"/>
          <p:cNvSpPr/>
          <p:nvPr/>
        </p:nvSpPr>
        <p:spPr>
          <a:xfrm>
            <a:off x="2830606" y="2148259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미술품관리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71" name=""/>
          <p:cNvCxnSpPr>
            <a:stCxn id="70" idx="0"/>
            <a:endCxn id="55" idx="2"/>
          </p:cNvCxnSpPr>
          <p:nvPr/>
        </p:nvCxnSpPr>
        <p:spPr>
          <a:xfrm rot="16200000">
            <a:off x="3384177" y="2001463"/>
            <a:ext cx="2935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"/>
          <p:cNvCxnSpPr>
            <a:stCxn id="70" idx="2"/>
            <a:endCxn id="5" idx="0"/>
          </p:cNvCxnSpPr>
          <p:nvPr/>
        </p:nvCxnSpPr>
        <p:spPr>
          <a:xfrm rot="16200000" flipH="1">
            <a:off x="3388677" y="2962909"/>
            <a:ext cx="2845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"/>
          <p:cNvSpPr txBox="1"/>
          <p:nvPr/>
        </p:nvSpPr>
        <p:spPr>
          <a:xfrm>
            <a:off x="3512486" y="1844019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531536" y="2767944"/>
            <a:ext cx="324969" cy="36387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4" name=""/>
          <p:cNvSpPr/>
          <p:nvPr/>
        </p:nvSpPr>
        <p:spPr>
          <a:xfrm>
            <a:off x="2830606" y="4137231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분류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0" y="0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Q9.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개체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미술가</a:t>
            </a:r>
            <a:r>
              <a:rPr lang="en-US" altLang="ko-KR"/>
              <a:t>(</a:t>
            </a:r>
            <a:r>
              <a:rPr lang="ko-KR" altLang="en-US" u="sng"/>
              <a:t>미술가번호</a:t>
            </a:r>
            <a:r>
              <a:rPr lang="en-US" altLang="ko-KR"/>
              <a:t>,</a:t>
            </a:r>
            <a:r>
              <a:rPr lang="ko-KR" altLang="en-US"/>
              <a:t> 미술가 이름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미술품</a:t>
            </a:r>
            <a:r>
              <a:rPr lang="en-US" altLang="ko-KR"/>
              <a:t>(</a:t>
            </a:r>
            <a:r>
              <a:rPr lang="ko-KR" altLang="en-US" u="sng"/>
              <a:t>미술품번호</a:t>
            </a:r>
            <a:r>
              <a:rPr lang="en-US" altLang="ko-KR"/>
              <a:t>,</a:t>
            </a:r>
            <a:r>
              <a:rPr lang="ko-KR" altLang="en-US"/>
              <a:t> 미술품 이름</a:t>
            </a:r>
            <a:r>
              <a:rPr lang="en-US" altLang="ko-KR"/>
              <a:t>,</a:t>
            </a:r>
            <a:r>
              <a:rPr lang="ko-KR" altLang="en-US"/>
              <a:t> 가격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미술품 그룹</a:t>
            </a:r>
            <a:r>
              <a:rPr lang="en-US" altLang="ko-KR"/>
              <a:t>(</a:t>
            </a:r>
            <a:r>
              <a:rPr lang="ko-KR" altLang="en-US" u="sng"/>
              <a:t>이름</a:t>
            </a:r>
            <a:r>
              <a:rPr lang="en-US" altLang="ko-KR"/>
              <a:t>,</a:t>
            </a:r>
            <a:r>
              <a:rPr lang="ko-KR" altLang="en-US"/>
              <a:t> 설명정보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고객</a:t>
            </a:r>
            <a:r>
              <a:rPr lang="en-US" altLang="ko-KR"/>
              <a:t>(</a:t>
            </a:r>
            <a:r>
              <a:rPr lang="ko-KR" altLang="en-US" u="sng"/>
              <a:t>고객번호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주소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갤러리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관계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고객관리</a:t>
            </a:r>
            <a:r>
              <a:rPr lang="en-US" altLang="ko-KR"/>
              <a:t>(</a:t>
            </a:r>
            <a:r>
              <a:rPr lang="ko-KR" altLang="en-US" u="sng"/>
              <a:t>고객번호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미술품 관리</a:t>
            </a:r>
            <a:r>
              <a:rPr lang="en-US" altLang="ko-KR"/>
              <a:t>(</a:t>
            </a:r>
            <a:r>
              <a:rPr lang="ko-KR" altLang="en-US" u="sng"/>
              <a:t>미술품번호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미술가 관리</a:t>
            </a:r>
            <a:r>
              <a:rPr lang="en-US" altLang="ko-KR"/>
              <a:t>(</a:t>
            </a:r>
            <a:r>
              <a:rPr lang="ko-KR" altLang="en-US" u="sng"/>
              <a:t>미술가번호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미술가 선호</a:t>
            </a:r>
            <a:endParaRPr lang="ko-KR" altLang="en-US"/>
          </a:p>
          <a:p>
            <a:pPr>
              <a:defRPr/>
            </a:pPr>
            <a:r>
              <a:rPr lang="ko-KR" altLang="en-US"/>
              <a:t>미술품 그룹 선호</a:t>
            </a:r>
            <a:endParaRPr lang="ko-KR" altLang="en-US"/>
          </a:p>
          <a:p>
            <a:pPr>
              <a:defRPr/>
            </a:pPr>
            <a:r>
              <a:rPr lang="ko-KR" altLang="en-US"/>
              <a:t>제작</a:t>
            </a:r>
            <a:r>
              <a:rPr lang="en-US" altLang="ko-KR"/>
              <a:t>(</a:t>
            </a:r>
            <a:r>
              <a:rPr lang="ko-KR" altLang="en-US" u="sng"/>
              <a:t>미술품번호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미술가번호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분류</a:t>
            </a:r>
            <a:r>
              <a:rPr lang="en-US" altLang="ko-KR"/>
              <a:t>(</a:t>
            </a:r>
            <a:r>
              <a:rPr lang="ko-KR" altLang="en-US" u="sng"/>
              <a:t>미술품번호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그룹 이름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9049" y="-1587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Q5.</a:t>
            </a:r>
            <a:endParaRPr lang="en-US" altLang="ko-KR"/>
          </a:p>
        </p:txBody>
      </p:sp>
      <p:sp>
        <p:nvSpPr>
          <p:cNvPr id="4" name=""/>
          <p:cNvSpPr/>
          <p:nvPr/>
        </p:nvSpPr>
        <p:spPr>
          <a:xfrm>
            <a:off x="8163484" y="1960562"/>
            <a:ext cx="1658472" cy="6723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자리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2701738" y="1960562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고객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2539813" y="5140137"/>
            <a:ext cx="1658472" cy="67235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사물함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5300942" y="4932270"/>
            <a:ext cx="1770529" cy="544043"/>
          </a:xfrm>
          <a:prstGeom prst="flowChartTerminator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u="sng">
                <a:solidFill>
                  <a:schemeClr val="tx1"/>
                </a:solidFill>
              </a:rPr>
              <a:t>사물함번호</a:t>
            </a:r>
            <a:endParaRPr lang="ko-KR" altLang="en-US" u="sng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10297645" y="2160728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위치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"/>
          <p:cNvSpPr/>
          <p:nvPr/>
        </p:nvSpPr>
        <p:spPr>
          <a:xfrm>
            <a:off x="10297645" y="1389062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좌석번호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"/>
          <p:cNvSpPr/>
          <p:nvPr/>
        </p:nvSpPr>
        <p:spPr>
          <a:xfrm>
            <a:off x="609598" y="2303144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609598" y="1665045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고객아이디</a:t>
            </a:r>
            <a:endParaRPr xmlns:mc="http://schemas.openxmlformats.org/markup-compatibility/2006" xmlns:hp="http://schemas.haansoft.com/office/presentation/8.0" kumimoji="0" lang="ko-KR" altLang="en-US" sz="1800" b="0" i="0" u="sng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"/>
          <p:cNvSpPr/>
          <p:nvPr/>
        </p:nvSpPr>
        <p:spPr>
          <a:xfrm>
            <a:off x="5510492" y="1960562"/>
            <a:ext cx="1400735" cy="672352"/>
          </a:xfrm>
          <a:prstGeom prst="flowChartDecision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구매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"/>
          <p:cNvSpPr/>
          <p:nvPr/>
        </p:nvSpPr>
        <p:spPr>
          <a:xfrm>
            <a:off x="4522694" y="982812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구매일자</a:t>
            </a:r>
            <a:endPara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/>
          <p:nvPr/>
        </p:nvSpPr>
        <p:spPr>
          <a:xfrm>
            <a:off x="6392954" y="982813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결제방식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7" name=""/>
          <p:cNvCxnSpPr>
            <a:stCxn id="13" idx="3"/>
            <a:endCxn id="4" idx="1"/>
          </p:cNvCxnSpPr>
          <p:nvPr/>
        </p:nvCxnSpPr>
        <p:spPr>
          <a:xfrm flipV="1">
            <a:off x="6911228" y="2296739"/>
            <a:ext cx="125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>
            <a:stCxn id="5" idx="3"/>
          </p:cNvCxnSpPr>
          <p:nvPr/>
        </p:nvCxnSpPr>
        <p:spPr>
          <a:xfrm flipV="1">
            <a:off x="4360210" y="2296739"/>
            <a:ext cx="1150283" cy="0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19" name=""/>
          <p:cNvCxnSpPr>
            <a:endCxn id="8" idx="1"/>
          </p:cNvCxnSpPr>
          <p:nvPr/>
        </p:nvCxnSpPr>
        <p:spPr>
          <a:xfrm>
            <a:off x="9821956" y="2296738"/>
            <a:ext cx="475689" cy="136011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0" name=""/>
          <p:cNvCxnSpPr>
            <a:stCxn id="4" idx="3"/>
            <a:endCxn id="9" idx="2"/>
          </p:cNvCxnSpPr>
          <p:nvPr/>
        </p:nvCxnSpPr>
        <p:spPr>
          <a:xfrm flipV="1">
            <a:off x="9821956" y="1933106"/>
            <a:ext cx="1360953" cy="363632"/>
          </a:xfrm>
          <a:prstGeom prst="line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</a:ln>
        </p:spPr>
      </p:cxnSp>
      <p:cxnSp>
        <p:nvCxnSpPr>
          <p:cNvPr id="21" name=""/>
          <p:cNvCxnSpPr>
            <a:stCxn id="13" idx="0"/>
            <a:endCxn id="15" idx="2"/>
          </p:cNvCxnSpPr>
          <p:nvPr/>
        </p:nvCxnSpPr>
        <p:spPr>
          <a:xfrm rot="10800000">
            <a:off x="5407959" y="1526856"/>
            <a:ext cx="802901" cy="433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"/>
          <p:cNvCxnSpPr>
            <a:stCxn id="13" idx="0"/>
            <a:endCxn id="16" idx="2"/>
          </p:cNvCxnSpPr>
          <p:nvPr/>
        </p:nvCxnSpPr>
        <p:spPr>
          <a:xfrm flipV="1">
            <a:off x="6210860" y="1526856"/>
            <a:ext cx="1067359" cy="433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"/>
          <p:cNvCxnSpPr>
            <a:stCxn id="12" idx="3"/>
            <a:endCxn id="5" idx="1"/>
          </p:cNvCxnSpPr>
          <p:nvPr/>
        </p:nvCxnSpPr>
        <p:spPr>
          <a:xfrm rot="16200000" flipH="1">
            <a:off x="2361097" y="1956098"/>
            <a:ext cx="359671" cy="32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>
            <a:stCxn id="11" idx="3"/>
            <a:endCxn id="5" idx="1"/>
          </p:cNvCxnSpPr>
          <p:nvPr/>
        </p:nvCxnSpPr>
        <p:spPr>
          <a:xfrm flipV="1">
            <a:off x="2380128" y="2296739"/>
            <a:ext cx="321610" cy="278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>
            <a:stCxn id="6" idx="3"/>
            <a:endCxn id="7" idx="1"/>
          </p:cNvCxnSpPr>
          <p:nvPr/>
        </p:nvCxnSpPr>
        <p:spPr>
          <a:xfrm flipV="1">
            <a:off x="4198285" y="5204292"/>
            <a:ext cx="1102657" cy="272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"/>
          <p:cNvSpPr txBox="1"/>
          <p:nvPr/>
        </p:nvSpPr>
        <p:spPr>
          <a:xfrm>
            <a:off x="7838515" y="1933947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39" name=""/>
          <p:cNvSpPr txBox="1"/>
          <p:nvPr/>
        </p:nvSpPr>
        <p:spPr>
          <a:xfrm>
            <a:off x="4360210" y="1937067"/>
            <a:ext cx="324969" cy="36607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530974" y="2632915"/>
            <a:ext cx="324969" cy="35967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054724" y="4781009"/>
            <a:ext cx="324969" cy="360586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2" name=""/>
          <p:cNvSpPr/>
          <p:nvPr/>
        </p:nvSpPr>
        <p:spPr>
          <a:xfrm>
            <a:off x="609598" y="2968813"/>
            <a:ext cx="1770529" cy="544043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마일리지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3" name=""/>
          <p:cNvCxnSpPr>
            <a:stCxn id="42" idx="3"/>
            <a:endCxn id="5" idx="1"/>
          </p:cNvCxnSpPr>
          <p:nvPr/>
        </p:nvCxnSpPr>
        <p:spPr>
          <a:xfrm rot="5400000" flipH="1" flipV="1">
            <a:off x="2068885" y="2607981"/>
            <a:ext cx="944095" cy="32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"/>
          <p:cNvSpPr/>
          <p:nvPr/>
        </p:nvSpPr>
        <p:spPr>
          <a:xfrm>
            <a:off x="2762250" y="3635748"/>
            <a:ext cx="1400735" cy="672352"/>
          </a:xfrm>
          <a:prstGeom prst="flowChartDecision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추가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8" name=""/>
          <p:cNvCxnSpPr>
            <a:stCxn id="47" idx="0"/>
            <a:endCxn id="5" idx="2"/>
          </p:cNvCxnSpPr>
          <p:nvPr/>
        </p:nvCxnSpPr>
        <p:spPr>
          <a:xfrm rot="5400000" flipH="1" flipV="1">
            <a:off x="2995379" y="3100153"/>
            <a:ext cx="1002833" cy="68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"/>
          <p:cNvCxnSpPr>
            <a:stCxn id="47" idx="2"/>
            <a:endCxn id="6" idx="0"/>
          </p:cNvCxnSpPr>
          <p:nvPr/>
        </p:nvCxnSpPr>
        <p:spPr>
          <a:xfrm rot="5400000">
            <a:off x="2999815" y="4677335"/>
            <a:ext cx="832036" cy="93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"/>
          <p:cNvSpPr/>
          <p:nvPr/>
        </p:nvSpPr>
        <p:spPr>
          <a:xfrm>
            <a:off x="9147363" y="3141989"/>
            <a:ext cx="1512793" cy="402570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칸막이형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1" name=""/>
          <p:cNvSpPr/>
          <p:nvPr/>
        </p:nvSpPr>
        <p:spPr>
          <a:xfrm>
            <a:off x="10660156" y="3147453"/>
            <a:ext cx="1512793" cy="402570"/>
          </a:xfrm>
          <a:prstGeom prst="flowChartTerminator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오픈형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52" name=""/>
          <p:cNvCxnSpPr>
            <a:stCxn id="50" idx="0"/>
            <a:endCxn id="8" idx="2"/>
          </p:cNvCxnSpPr>
          <p:nvPr/>
        </p:nvCxnSpPr>
        <p:spPr>
          <a:xfrm flipV="1">
            <a:off x="9903760" y="2704771"/>
            <a:ext cx="1279150" cy="437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"/>
          <p:cNvCxnSpPr>
            <a:stCxn id="8" idx="2"/>
            <a:endCxn id="51" idx="0"/>
          </p:cNvCxnSpPr>
          <p:nvPr/>
        </p:nvCxnSpPr>
        <p:spPr>
          <a:xfrm rot="16200000" flipH="1">
            <a:off x="11078390" y="2809290"/>
            <a:ext cx="442681" cy="233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0" y="0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Q10.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개체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자리</a:t>
            </a:r>
            <a:r>
              <a:rPr lang="en-US" altLang="ko-KR"/>
              <a:t>(</a:t>
            </a:r>
            <a:r>
              <a:rPr lang="ko-KR" altLang="en-US"/>
              <a:t>좌석</a:t>
            </a:r>
            <a:r>
              <a:rPr lang="ko-KR" altLang="en-US" u="sng"/>
              <a:t>번호</a:t>
            </a:r>
            <a:r>
              <a:rPr lang="en-US" altLang="ko-KR"/>
              <a:t>,</a:t>
            </a:r>
            <a:r>
              <a:rPr lang="ko-KR" altLang="en-US"/>
              <a:t> 위치</a:t>
            </a:r>
            <a:r>
              <a:rPr lang="en-US" altLang="ko-KR"/>
              <a:t>(</a:t>
            </a:r>
            <a:r>
              <a:rPr lang="ko-KR" altLang="en-US"/>
              <a:t>칸막이형</a:t>
            </a:r>
            <a:r>
              <a:rPr lang="en-US" altLang="ko-KR"/>
              <a:t>,</a:t>
            </a:r>
            <a:r>
              <a:rPr lang="ko-KR" altLang="en-US"/>
              <a:t> 오픈형</a:t>
            </a:r>
            <a:r>
              <a:rPr lang="en-US" altLang="ko-KR"/>
              <a:t>))</a:t>
            </a:r>
            <a:endParaRPr lang="en-US" altLang="ko-KR"/>
          </a:p>
          <a:p>
            <a:pPr>
              <a:defRPr/>
            </a:pPr>
            <a:r>
              <a:rPr lang="ko-KR" altLang="en-US"/>
              <a:t>고객</a:t>
            </a:r>
            <a:r>
              <a:rPr lang="en-US" altLang="ko-KR"/>
              <a:t>(</a:t>
            </a:r>
            <a:r>
              <a:rPr lang="ko-KR" altLang="en-US" u="sng"/>
              <a:t>고객아이디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마일리지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사물함</a:t>
            </a:r>
            <a:r>
              <a:rPr lang="en-US" altLang="ko-KR"/>
              <a:t>(</a:t>
            </a:r>
            <a:r>
              <a:rPr lang="ko-KR" altLang="en-US"/>
              <a:t>사물함</a:t>
            </a:r>
            <a:r>
              <a:rPr lang="ko-KR" altLang="en-US" u="sng"/>
              <a:t>번호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[</a:t>
            </a:r>
            <a:r>
              <a:rPr lang="ko-KR" altLang="en-US"/>
              <a:t>관계</a:t>
            </a:r>
            <a:r>
              <a:rPr lang="en-US" altLang="ko-KR"/>
              <a:t>]</a:t>
            </a:r>
            <a:endParaRPr lang="en-US" altLang="ko-KR"/>
          </a:p>
          <a:p>
            <a:pPr>
              <a:defRPr/>
            </a:pPr>
            <a:r>
              <a:rPr lang="ko-KR" altLang="en-US"/>
              <a:t>구매</a:t>
            </a:r>
            <a:r>
              <a:rPr lang="en-US" altLang="ko-KR" u="sng"/>
              <a:t>(</a:t>
            </a:r>
            <a:r>
              <a:rPr lang="ko-KR" altLang="en-US" u="sng"/>
              <a:t>고객아이디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좌석번호</a:t>
            </a:r>
            <a:r>
              <a:rPr lang="en-US" altLang="ko-KR"/>
              <a:t>,</a:t>
            </a:r>
            <a:r>
              <a:rPr lang="ko-KR" altLang="en-US"/>
              <a:t> 구매일자</a:t>
            </a:r>
            <a:r>
              <a:rPr lang="en-US" altLang="ko-KR"/>
              <a:t>,</a:t>
            </a:r>
            <a:r>
              <a:rPr lang="ko-KR" altLang="en-US"/>
              <a:t> 결제방식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추가</a:t>
            </a:r>
            <a:r>
              <a:rPr lang="en-US" altLang="ko-KR"/>
              <a:t>(</a:t>
            </a:r>
            <a:r>
              <a:rPr lang="ko-KR" altLang="en-US" u="sng"/>
              <a:t>사물함번호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u="sng"/>
              <a:t>고객아이디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242</ep:Words>
  <ep:PresentationFormat>화면 슬라이드 쇼(4:3)</ep:PresentationFormat>
  <ep:Paragraphs>178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hw5_ ‘E-R -&gt; 릴레이션 변환’ 과제</vt:lpstr>
      <vt:lpstr>Q1.</vt:lpstr>
      <vt:lpstr>Q6.</vt:lpstr>
      <vt:lpstr>Q2.</vt:lpstr>
      <vt:lpstr>Q7.</vt:lpstr>
      <vt:lpstr>Q3.</vt:lpstr>
      <vt:lpstr>Q8.</vt:lpstr>
      <vt:lpstr>Q4.</vt:lpstr>
      <vt:lpstr>Q9.</vt:lpstr>
      <vt:lpstr>Q5.</vt:lpstr>
      <vt:lpstr>Q10.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2023-11-11T12:04:05.877</dcterms:created>
  <dc:creator>박수인</dc:creator>
  <cp:lastModifiedBy>박수인</cp:lastModifiedBy>
  <dcterms:modified xsi:type="dcterms:W3CDTF">2023-11-11T13:17:23.014</dcterms:modified>
  <cp:revision>90</cp:revision>
  <dc:title>ㄹ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